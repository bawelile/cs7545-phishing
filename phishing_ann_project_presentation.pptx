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as an applied machine learning workflow for classifying legitimate, human phishing, and GPT-4o phishing messages. Emphasize that the code produces both evaluation metrics and operational CSV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cyber motivation and how the coding project expands the usual legitimate-versus-phishing task into a three-class problem that includes AI-generated phishing.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expected dataset structure and label meanings. Note that the code includes encoding fallbacks because the user encountered a UnicodeDecodeError in the local 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stage of the script. Emphasize that the code is intentionally sequential so the logic is visible in a notebook or classroom setting.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model is deliberately simple: TF-IDF features with a feed-forward neural network. The softmax output supports three classes.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how the four folds work. Emphasize that the use of stratification is methodologically appropriate when classes may not be balanced.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performance outputs: confusion matrix, accuracy, precision, recall, F1, classification report, and saved charts/CSVs.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file split is an operational extension. It lets the user review rows by predicted category and inspect model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frame the project contribution. The code is not only a technical artifact; it demonstrates a defensible method and identifies future research directions.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with the main accomplishments: data preparation, ANN validation, evaluation outputs, and file separation. Close by noting that the workflow can be extended in future research.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B"/>
          </a:solidFill>
          <a:ln w="12700">
            <a:solidFill>
              <a:srgbClr val="1F3A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50292"/>
          </a:xfrm>
          <a:prstGeom prst="rect">
            <a:avLst/>
          </a:prstGeom>
          <a:solidFill>
            <a:srgbClr val="C58A00"/>
          </a:solidFill>
          <a:ln w="12700">
            <a:solidFill>
              <a:srgbClr val="C58A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437376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 phishing classification project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28832" y="63916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201168"/>
            <a:ext cx="12191695" cy="665683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667512"/>
            <a:ext cx="128016" cy="5349240"/>
          </a:xfrm>
          <a:prstGeom prst="rect">
            <a:avLst/>
          </a:prstGeom>
          <a:solidFill>
            <a:srgbClr val="C58A00"/>
          </a:solidFill>
          <a:ln w="12700">
            <a:solidFill>
              <a:srgbClr val="C58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950976"/>
            <a:ext cx="69951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F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Artificial Neural Network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1F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Phishing Classification Project</a:t>
            </a:r>
            <a:endParaRPr lang="en-US" sz="3500" dirty="0"/>
          </a:p>
        </p:txBody>
      </p:sp>
      <p:sp>
        <p:nvSpPr>
          <p:cNvPr id="11" name="Text 9"/>
          <p:cNvSpPr/>
          <p:nvPr/>
        </p:nvSpPr>
        <p:spPr>
          <a:xfrm>
            <a:off x="960120" y="2523744"/>
            <a:ext cx="667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workflow documentation for three-class cybersecurity text classification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60120" y="3337560"/>
            <a:ext cx="2240280" cy="402336"/>
          </a:xfrm>
          <a:prstGeom prst="roundRect">
            <a:avLst>
              <a:gd name="adj" fmla="val 27273"/>
            </a:avLst>
          </a:prstGeom>
          <a:solidFill>
            <a:srgbClr val="1F3A5B"/>
          </a:solidFill>
          <a:ln w="12700">
            <a:solidFill>
              <a:srgbClr val="1F3A5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3392424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4-fold stratified validation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3401568" y="3337560"/>
            <a:ext cx="1920240" cy="402336"/>
          </a:xfrm>
          <a:prstGeom prst="roundRect">
            <a:avLst>
              <a:gd name="adj" fmla="val 27273"/>
            </a:avLst>
          </a:prstGeom>
          <a:solidFill>
            <a:srgbClr val="2D5F87"/>
          </a:solidFill>
          <a:ln w="12700">
            <a:solidFill>
              <a:srgbClr val="2D5F8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3392424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TF-IDF + Keras ANN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5532120" y="3337560"/>
            <a:ext cx="2468880" cy="402336"/>
          </a:xfrm>
          <a:prstGeom prst="roundRect">
            <a:avLst>
              <a:gd name="adj" fmla="val 27273"/>
            </a:avLst>
          </a:prstGeom>
          <a:solidFill>
            <a:srgbClr val="C58A00"/>
          </a:solidFill>
          <a:ln w="12700">
            <a:solidFill>
              <a:srgbClr val="C58A0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05272" y="3392424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Prediction-based CSV split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8759952" y="822960"/>
            <a:ext cx="2377440" cy="2377440"/>
          </a:xfrm>
          <a:prstGeom prst="arc">
            <a:avLst/>
          </a:prstGeom>
          <a:solidFill>
            <a:srgbClr val="F8FAFC">
              <a:alpha val="0"/>
            </a:srgbClr>
          </a:solidFill>
          <a:ln w="26670">
            <a:solidFill>
              <a:srgbClr val="1F3A5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34272" y="1097280"/>
            <a:ext cx="1828800" cy="1828800"/>
          </a:xfrm>
          <a:prstGeom prst="ellipse">
            <a:avLst/>
          </a:prstGeom>
          <a:solidFill>
            <a:srgbClr val="EAF1F7"/>
          </a:solidFill>
          <a:ln w="15240">
            <a:solidFill>
              <a:srgbClr val="2D5F8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64040" y="1298448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1F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4500" dirty="0"/>
          </a:p>
        </p:txBody>
      </p:sp>
      <p:sp>
        <p:nvSpPr>
          <p:cNvPr id="21" name="Text 19"/>
          <p:cNvSpPr/>
          <p:nvPr/>
        </p:nvSpPr>
        <p:spPr>
          <a:xfrm>
            <a:off x="9308592" y="2093976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classes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549640" y="3657600"/>
            <a:ext cx="640080" cy="640080"/>
          </a:xfrm>
          <a:prstGeom prst="ellipse">
            <a:avLst/>
          </a:prstGeom>
          <a:solidFill>
            <a:srgbClr val="2F7D50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375818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326880" y="373075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Legitimate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8549640" y="4443984"/>
            <a:ext cx="640080" cy="640080"/>
          </a:xfrm>
          <a:prstGeom prst="ellipse">
            <a:avLst/>
          </a:prstGeom>
          <a:solidFill>
            <a:srgbClr val="B2484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49640" y="454456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326880" y="451713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Phishing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8549640" y="5230368"/>
            <a:ext cx="640080" cy="640080"/>
          </a:xfrm>
          <a:prstGeom prst="ellipse">
            <a:avLst/>
          </a:prstGeom>
          <a:solidFill>
            <a:srgbClr val="6B4FA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49640" y="53309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326880" y="530352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- 4o Phishing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B"/>
          </a:solidFill>
          <a:ln w="12700">
            <a:solidFill>
              <a:srgbClr val="1F3A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50292"/>
          </a:xfrm>
          <a:prstGeom prst="rect">
            <a:avLst/>
          </a:prstGeom>
          <a:solidFill>
            <a:srgbClr val="C58A00"/>
          </a:solidFill>
          <a:ln w="12700">
            <a:solidFill>
              <a:srgbClr val="C58A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437376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framing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28832" y="63916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" y="438912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code was built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603504" y="103327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turns a cybersecurity problem into a measurable supervised learning workflow.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motivation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2157984"/>
            <a:ext cx="521208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 messages are difficult to detect because they use social engineering, urgency, and impersonation. AI-generated text adds another challenge because malicious messages can be produced more fluently and at scale.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640080" y="3703320"/>
            <a:ext cx="5074920" cy="713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code was created to test whether an ANN can separate three classes of message text and produce reproducible evaluation evidence.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629400" y="2907792"/>
            <a:ext cx="1508760" cy="0"/>
          </a:xfrm>
          <a:prstGeom prst="line">
            <a:avLst/>
          </a:prstGeom>
          <a:noFill/>
          <a:ln w="27940">
            <a:solidFill>
              <a:srgbClr val="C58A0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823960" y="2907792"/>
            <a:ext cx="1508760" cy="0"/>
          </a:xfrm>
          <a:prstGeom prst="line">
            <a:avLst/>
          </a:prstGeom>
          <a:noFill/>
          <a:ln w="27940">
            <a:solidFill>
              <a:srgbClr val="C58A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897880" y="2194560"/>
            <a:ext cx="1280160" cy="1280160"/>
          </a:xfrm>
          <a:prstGeom prst="ellipse">
            <a:avLst/>
          </a:prstGeom>
          <a:solidFill>
            <a:srgbClr val="EAF1F7"/>
          </a:solidFill>
          <a:ln w="15240">
            <a:solidFill>
              <a:srgbClr val="2D5F8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2194560"/>
            <a:ext cx="1280160" cy="1280160"/>
          </a:xfrm>
          <a:prstGeom prst="ellipse">
            <a:avLst/>
          </a:prstGeom>
          <a:solidFill>
            <a:srgbClr val="F6E8C9"/>
          </a:solidFill>
          <a:ln w="15240">
            <a:solidFill>
              <a:srgbClr val="C58A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69880" y="2194560"/>
            <a:ext cx="1280160" cy="1280160"/>
          </a:xfrm>
          <a:prstGeom prst="ellipse">
            <a:avLst/>
          </a:prstGeom>
          <a:solidFill>
            <a:srgbClr val="EFEAF8"/>
          </a:solidFill>
          <a:ln w="15240">
            <a:solidFill>
              <a:srgbClr val="6B4FA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0" y="367588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Legitimate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001000" y="367588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259568" y="36758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- 4o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144768" y="24688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5F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430768" y="24688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58A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0716768" y="24688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4FA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989320" y="480060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Three-class classification, not just binary filtering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B"/>
          </a:solidFill>
          <a:ln w="12700">
            <a:solidFill>
              <a:srgbClr val="1F3A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50292"/>
          </a:xfrm>
          <a:prstGeom prst="rect">
            <a:avLst/>
          </a:prstGeom>
          <a:solidFill>
            <a:srgbClr val="C58A00"/>
          </a:solidFill>
          <a:ln w="12700">
            <a:solidFill>
              <a:srgbClr val="C58A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437376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design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28832" y="63916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" y="438912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 data and label structure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603504" y="103327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script expects a two-column CSV and maps numeric labels to readable categories.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685800" y="1755648"/>
            <a:ext cx="5349240" cy="1920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019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phishing_combined_data.csv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2450592"/>
            <a:ext cx="2377440" cy="411480"/>
          </a:xfrm>
          <a:prstGeom prst="rect">
            <a:avLst/>
          </a:prstGeom>
          <a:solidFill>
            <a:srgbClr val="1F3A5B"/>
          </a:solidFill>
          <a:ln w="12700">
            <a:solidFill>
              <a:srgbClr val="1F3A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2450592"/>
            <a:ext cx="2148840" cy="411480"/>
          </a:xfrm>
          <a:prstGeom prst="rect">
            <a:avLst/>
          </a:prstGeom>
          <a:solidFill>
            <a:srgbClr val="1F3A5B"/>
          </a:solidFill>
          <a:ln w="12700">
            <a:solidFill>
              <a:srgbClr val="1F3A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254203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text_combined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01568" y="25420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4400" y="2862072"/>
            <a:ext cx="2377440" cy="502920"/>
          </a:xfrm>
          <a:prstGeom prst="rect">
            <a:avLst/>
          </a:prstGeom>
          <a:solidFill>
            <a:srgbClr val="F3F6FA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2862072"/>
            <a:ext cx="2148840" cy="502920"/>
          </a:xfrm>
          <a:prstGeom prst="rect">
            <a:avLst/>
          </a:prstGeom>
          <a:solidFill>
            <a:srgbClr val="F3F6FA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2980944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text</a:t>
            </a:r>
            <a:endParaRPr lang="en-US" sz="1330" dirty="0"/>
          </a:p>
        </p:txBody>
      </p:sp>
      <p:sp>
        <p:nvSpPr>
          <p:cNvPr id="19" name="Text 17"/>
          <p:cNvSpPr/>
          <p:nvPr/>
        </p:nvSpPr>
        <p:spPr>
          <a:xfrm>
            <a:off x="3401568" y="298094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 1, or 2</a:t>
            </a:r>
            <a:endParaRPr lang="en-US" sz="1330" dirty="0"/>
          </a:p>
        </p:txBody>
      </p:sp>
      <p:sp>
        <p:nvSpPr>
          <p:cNvPr id="20" name="Text 18"/>
          <p:cNvSpPr/>
          <p:nvPr/>
        </p:nvSpPr>
        <p:spPr>
          <a:xfrm>
            <a:off x="868680" y="3858768"/>
            <a:ext cx="5166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Encoding fallback: UTF-8 -&gt; CP1252 -&gt; Latin-1 with replacement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720840" y="1719072"/>
            <a:ext cx="640080" cy="640080"/>
          </a:xfrm>
          <a:prstGeom prst="ellipse">
            <a:avLst/>
          </a:prstGeom>
          <a:solidFill>
            <a:srgbClr val="2F7D50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181965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98080" y="179222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Legitimate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720840" y="2487168"/>
            <a:ext cx="640080" cy="640080"/>
          </a:xfrm>
          <a:prstGeom prst="ellipse">
            <a:avLst/>
          </a:prstGeom>
          <a:solidFill>
            <a:srgbClr val="B2484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25877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498080" y="256032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Phishing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720840" y="3255264"/>
            <a:ext cx="640080" cy="640080"/>
          </a:xfrm>
          <a:prstGeom prst="ellipse">
            <a:avLst/>
          </a:prstGeom>
          <a:solidFill>
            <a:srgbClr val="6B4FA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335584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498080" y="332841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- 4o Phishing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784848" y="422452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 count output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6748272" y="5742432"/>
            <a:ext cx="4251960" cy="0"/>
          </a:xfrm>
          <a:prstGeom prst="line">
            <a:avLst/>
          </a:prstGeom>
          <a:noFill/>
          <a:ln w="13970">
            <a:solidFill>
              <a:srgbClr val="B7C5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95160" y="5074920"/>
            <a:ext cx="457200" cy="667512"/>
          </a:xfrm>
          <a:prstGeom prst="rect">
            <a:avLst/>
          </a:prstGeom>
          <a:solidFill>
            <a:srgbClr val="2F7D50"/>
          </a:solidFill>
          <a:ln w="12700">
            <a:solidFill>
              <a:srgbClr val="2F7D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01000" y="4800600"/>
            <a:ext cx="457200" cy="941832"/>
          </a:xfrm>
          <a:prstGeom prst="rect">
            <a:avLst/>
          </a:prstGeom>
          <a:solidFill>
            <a:srgbClr val="B24848"/>
          </a:solidFill>
          <a:ln w="12700">
            <a:solidFill>
              <a:srgbClr val="B2484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06840" y="4553712"/>
            <a:ext cx="457200" cy="1188720"/>
          </a:xfrm>
          <a:prstGeom prst="rect">
            <a:avLst/>
          </a:prstGeom>
          <a:solidFill>
            <a:srgbClr val="6B4FA2"/>
          </a:solidFill>
          <a:ln w="12700">
            <a:solidFill>
              <a:srgbClr val="6B4FA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84080" y="4892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CSV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B"/>
          </a:solidFill>
          <a:ln w="12700">
            <a:solidFill>
              <a:srgbClr val="1F3A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50292"/>
          </a:xfrm>
          <a:prstGeom prst="rect">
            <a:avLst/>
          </a:prstGeom>
          <a:solidFill>
            <a:srgbClr val="C58A00"/>
          </a:solidFill>
          <a:ln w="12700">
            <a:solidFill>
              <a:srgbClr val="C58A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437376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overview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28832" y="63916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" y="438912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code does from start to finish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603504" y="103327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script runs as one sequential workflow with no custom procedures or functions.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2514600" y="2331720"/>
            <a:ext cx="411480" cy="0"/>
          </a:xfrm>
          <a:prstGeom prst="line">
            <a:avLst/>
          </a:prstGeom>
          <a:noFill/>
          <a:ln w="20320">
            <a:solidFill>
              <a:srgbClr val="2D5F8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983480" y="2331720"/>
            <a:ext cx="411480" cy="0"/>
          </a:xfrm>
          <a:prstGeom prst="line">
            <a:avLst/>
          </a:prstGeom>
          <a:noFill/>
          <a:ln w="20320">
            <a:solidFill>
              <a:srgbClr val="2D5F8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452360" y="2331720"/>
            <a:ext cx="411480" cy="0"/>
          </a:xfrm>
          <a:prstGeom prst="line">
            <a:avLst/>
          </a:prstGeom>
          <a:noFill/>
          <a:ln w="20320">
            <a:solidFill>
              <a:srgbClr val="2D5F8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006840" y="2852928"/>
            <a:ext cx="0" cy="960120"/>
          </a:xfrm>
          <a:prstGeom prst="line">
            <a:avLst/>
          </a:prstGeom>
          <a:noFill/>
          <a:ln w="20320">
            <a:solidFill>
              <a:srgbClr val="2D5F8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863840" y="4572000"/>
            <a:ext cx="-411480" cy="0"/>
          </a:xfrm>
          <a:prstGeom prst="line">
            <a:avLst/>
          </a:prstGeom>
          <a:noFill/>
          <a:ln w="20320">
            <a:solidFill>
              <a:srgbClr val="2D5F8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394960" y="4572000"/>
            <a:ext cx="-411480" cy="0"/>
          </a:xfrm>
          <a:prstGeom prst="line">
            <a:avLst/>
          </a:prstGeom>
          <a:noFill/>
          <a:ln w="20320">
            <a:solidFill>
              <a:srgbClr val="2D5F8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926080" y="4572000"/>
            <a:ext cx="-411480" cy="0"/>
          </a:xfrm>
          <a:prstGeom prst="line">
            <a:avLst/>
          </a:prstGeom>
          <a:noFill/>
          <a:ln w="20320">
            <a:solidFill>
              <a:srgbClr val="2D5F8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" y="1828800"/>
            <a:ext cx="17830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3970">
            <a:solidFill>
              <a:srgbClr val="2D5F8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1901952"/>
            <a:ext cx="16367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CSV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handle encoding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154680" y="1828800"/>
            <a:ext cx="17830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3970">
            <a:solidFill>
              <a:srgbClr val="2D5F8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27832" y="1901952"/>
            <a:ext cx="16367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labels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 1, 2 only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23560" y="1828800"/>
            <a:ext cx="17830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3970">
            <a:solidFill>
              <a:srgbClr val="2D5F8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96712" y="1901952"/>
            <a:ext cx="16367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 labels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chart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92440" y="1828800"/>
            <a:ext cx="17830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3970">
            <a:solidFill>
              <a:srgbClr val="2D5F8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65592" y="1901952"/>
            <a:ext cx="16367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TF-IDF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vectorization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85800" y="4069080"/>
            <a:ext cx="1783080" cy="1024128"/>
          </a:xfrm>
          <a:prstGeom prst="roundRect">
            <a:avLst>
              <a:gd name="adj" fmla="val 7143"/>
            </a:avLst>
          </a:prstGeom>
          <a:solidFill>
            <a:srgbClr val="F6E8C9"/>
          </a:solidFill>
          <a:ln w="13970">
            <a:solidFill>
              <a:srgbClr val="C58A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4142232"/>
            <a:ext cx="16367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rows into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CSV files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154680" y="4069080"/>
            <a:ext cx="17830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3970">
            <a:solidFill>
              <a:srgbClr val="2D5F8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27832" y="4142232"/>
            <a:ext cx="16367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final ANN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full dataset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623560" y="4069080"/>
            <a:ext cx="17830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3970">
            <a:solidFill>
              <a:srgbClr val="2D5F8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96712" y="4142232"/>
            <a:ext cx="16367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metrics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confusion matrix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092440" y="4069080"/>
            <a:ext cx="17830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3970">
            <a:solidFill>
              <a:srgbClr val="2D5F8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65592" y="4142232"/>
            <a:ext cx="16367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4-fold ANN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05840" y="5605272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30" b="1" dirty="0">
                <a:solidFill>
                  <a:srgbClr val="1F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Sequential coding style was maintained to satisfy the no-functions / no-procedures requirement.</a:t>
            </a:r>
            <a:endParaRPr lang="en-US" sz="17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B"/>
          </a:solidFill>
          <a:ln w="12700">
            <a:solidFill>
              <a:srgbClr val="1F3A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50292"/>
          </a:xfrm>
          <a:prstGeom prst="rect">
            <a:avLst/>
          </a:prstGeom>
          <a:solidFill>
            <a:srgbClr val="C58A00"/>
          </a:solidFill>
          <a:ln w="12700">
            <a:solidFill>
              <a:srgbClr val="C58A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437376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design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28832" y="63916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" y="438912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 features feed a simple ANN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603504" y="103327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TF-IDF converts message text into numbers; the neural network learns class probabilities.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685800" y="1755648"/>
            <a:ext cx="228600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F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947672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message text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1248" y="2304288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body or combined text field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3063240" y="2304288"/>
            <a:ext cx="914400" cy="0"/>
          </a:xfrm>
          <a:prstGeom prst="line">
            <a:avLst/>
          </a:prstGeom>
          <a:noFill/>
          <a:ln w="25400">
            <a:solidFill>
              <a:srgbClr val="C58A0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069080" y="1755648"/>
            <a:ext cx="2057400" cy="1078992"/>
          </a:xfrm>
          <a:prstGeom prst="roundRect">
            <a:avLst/>
          </a:prstGeom>
          <a:solidFill>
            <a:srgbClr val="F6E8C9"/>
          </a:solidFill>
          <a:ln w="15240">
            <a:solidFill>
              <a:srgbClr val="C58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61688" y="194767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TF-IDF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279392" y="23134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 to 5,000 features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99632" y="2304288"/>
            <a:ext cx="731520" cy="0"/>
          </a:xfrm>
          <a:prstGeom prst="line">
            <a:avLst/>
          </a:prstGeom>
          <a:noFill/>
          <a:ln w="25400">
            <a:solidFill>
              <a:srgbClr val="C58A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79208" y="1883664"/>
            <a:ext cx="850392" cy="-173736"/>
          </a:xfrm>
          <a:prstGeom prst="line">
            <a:avLst/>
          </a:prstGeom>
          <a:noFill/>
          <a:ln w="6985">
            <a:solidFill>
              <a:srgbClr val="A9B6C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79208" y="1883664"/>
            <a:ext cx="850392" cy="374904"/>
          </a:xfrm>
          <a:prstGeom prst="line">
            <a:avLst/>
          </a:prstGeom>
          <a:noFill/>
          <a:ln w="6985">
            <a:solidFill>
              <a:srgbClr val="A9B6C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79208" y="1883664"/>
            <a:ext cx="850392" cy="923544"/>
          </a:xfrm>
          <a:prstGeom prst="line">
            <a:avLst/>
          </a:prstGeom>
          <a:noFill/>
          <a:ln w="6985">
            <a:solidFill>
              <a:srgbClr val="A9B6C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79208" y="1883664"/>
            <a:ext cx="850392" cy="1472184"/>
          </a:xfrm>
          <a:prstGeom prst="line">
            <a:avLst/>
          </a:prstGeom>
          <a:noFill/>
          <a:ln w="6985">
            <a:solidFill>
              <a:srgbClr val="A9B6C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79208" y="2432304"/>
            <a:ext cx="850392" cy="-722376"/>
          </a:xfrm>
          <a:prstGeom prst="line">
            <a:avLst/>
          </a:prstGeom>
          <a:noFill/>
          <a:ln w="6985">
            <a:solidFill>
              <a:srgbClr val="A9B6C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79208" y="2432304"/>
            <a:ext cx="850392" cy="-173736"/>
          </a:xfrm>
          <a:prstGeom prst="line">
            <a:avLst/>
          </a:prstGeom>
          <a:noFill/>
          <a:ln w="6985">
            <a:solidFill>
              <a:srgbClr val="A9B6C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379208" y="2432304"/>
            <a:ext cx="850392" cy="374904"/>
          </a:xfrm>
          <a:prstGeom prst="line">
            <a:avLst/>
          </a:prstGeom>
          <a:noFill/>
          <a:ln w="6985">
            <a:solidFill>
              <a:srgbClr val="A9B6C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379208" y="2432304"/>
            <a:ext cx="850392" cy="923544"/>
          </a:xfrm>
          <a:prstGeom prst="line">
            <a:avLst/>
          </a:prstGeom>
          <a:noFill/>
          <a:ln w="6985">
            <a:solidFill>
              <a:srgbClr val="A9B6C5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379208" y="2980944"/>
            <a:ext cx="850392" cy="-1271016"/>
          </a:xfrm>
          <a:prstGeom prst="line">
            <a:avLst/>
          </a:prstGeom>
          <a:noFill/>
          <a:ln w="6985">
            <a:solidFill>
              <a:srgbClr val="A9B6C5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379208" y="2980944"/>
            <a:ext cx="850392" cy="-722376"/>
          </a:xfrm>
          <a:prstGeom prst="line">
            <a:avLst/>
          </a:prstGeom>
          <a:noFill/>
          <a:ln w="6985">
            <a:solidFill>
              <a:srgbClr val="A9B6C5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379208" y="2980944"/>
            <a:ext cx="850392" cy="-173736"/>
          </a:xfrm>
          <a:prstGeom prst="line">
            <a:avLst/>
          </a:prstGeom>
          <a:noFill/>
          <a:ln w="6985">
            <a:solidFill>
              <a:srgbClr val="A9B6C5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379208" y="2980944"/>
            <a:ext cx="850392" cy="374904"/>
          </a:xfrm>
          <a:prstGeom prst="line">
            <a:avLst/>
          </a:prstGeom>
          <a:noFill/>
          <a:ln w="6985">
            <a:solidFill>
              <a:srgbClr val="A9B6C5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522208" y="1709928"/>
            <a:ext cx="877824" cy="246888"/>
          </a:xfrm>
          <a:prstGeom prst="line">
            <a:avLst/>
          </a:prstGeom>
          <a:noFill/>
          <a:ln w="6985">
            <a:solidFill>
              <a:srgbClr val="A9B6C5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522208" y="1709928"/>
            <a:ext cx="877824" cy="886968"/>
          </a:xfrm>
          <a:prstGeom prst="line">
            <a:avLst/>
          </a:prstGeom>
          <a:noFill/>
          <a:ln w="6985">
            <a:solidFill>
              <a:srgbClr val="A9B6C5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522208" y="1709928"/>
            <a:ext cx="877824" cy="1527048"/>
          </a:xfrm>
          <a:prstGeom prst="line">
            <a:avLst/>
          </a:prstGeom>
          <a:noFill/>
          <a:ln w="6985">
            <a:solidFill>
              <a:srgbClr val="A9B6C5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522208" y="2258568"/>
            <a:ext cx="877824" cy="-301752"/>
          </a:xfrm>
          <a:prstGeom prst="line">
            <a:avLst/>
          </a:prstGeom>
          <a:noFill/>
          <a:ln w="6985">
            <a:solidFill>
              <a:srgbClr val="A9B6C5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522208" y="2258568"/>
            <a:ext cx="877824" cy="338328"/>
          </a:xfrm>
          <a:prstGeom prst="line">
            <a:avLst/>
          </a:prstGeom>
          <a:noFill/>
          <a:ln w="6985">
            <a:solidFill>
              <a:srgbClr val="A9B6C5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522208" y="2258568"/>
            <a:ext cx="877824" cy="978408"/>
          </a:xfrm>
          <a:prstGeom prst="line">
            <a:avLst/>
          </a:prstGeom>
          <a:noFill/>
          <a:ln w="6985">
            <a:solidFill>
              <a:srgbClr val="A9B6C5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522208" y="2807208"/>
            <a:ext cx="877824" cy="-850392"/>
          </a:xfrm>
          <a:prstGeom prst="line">
            <a:avLst/>
          </a:prstGeom>
          <a:noFill/>
          <a:ln w="6985">
            <a:solidFill>
              <a:srgbClr val="A9B6C5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522208" y="2807208"/>
            <a:ext cx="877824" cy="-210312"/>
          </a:xfrm>
          <a:prstGeom prst="line">
            <a:avLst/>
          </a:prstGeom>
          <a:noFill/>
          <a:ln w="6985">
            <a:solidFill>
              <a:srgbClr val="A9B6C5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522208" y="2807208"/>
            <a:ext cx="877824" cy="429768"/>
          </a:xfrm>
          <a:prstGeom prst="line">
            <a:avLst/>
          </a:prstGeom>
          <a:noFill/>
          <a:ln w="6985">
            <a:solidFill>
              <a:srgbClr val="A9B6C5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522208" y="3355848"/>
            <a:ext cx="877824" cy="-1399032"/>
          </a:xfrm>
          <a:prstGeom prst="line">
            <a:avLst/>
          </a:prstGeom>
          <a:noFill/>
          <a:ln w="6985">
            <a:solidFill>
              <a:srgbClr val="A9B6C5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522208" y="3355848"/>
            <a:ext cx="877824" cy="-758952"/>
          </a:xfrm>
          <a:prstGeom prst="line">
            <a:avLst/>
          </a:prstGeom>
          <a:noFill/>
          <a:ln w="6985">
            <a:solidFill>
              <a:srgbClr val="A9B6C5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522208" y="3355848"/>
            <a:ext cx="877824" cy="-118872"/>
          </a:xfrm>
          <a:prstGeom prst="line">
            <a:avLst/>
          </a:prstGeom>
          <a:noFill/>
          <a:ln w="6985">
            <a:solidFill>
              <a:srgbClr val="A9B6C5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9692640" y="1956816"/>
            <a:ext cx="932688" cy="-73152"/>
          </a:xfrm>
          <a:prstGeom prst="line">
            <a:avLst/>
          </a:prstGeom>
          <a:noFill/>
          <a:ln w="6985">
            <a:solidFill>
              <a:srgbClr val="A9B6C5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692640" y="1956816"/>
            <a:ext cx="932688" cy="640080"/>
          </a:xfrm>
          <a:prstGeom prst="line">
            <a:avLst/>
          </a:prstGeom>
          <a:noFill/>
          <a:ln w="6985">
            <a:solidFill>
              <a:srgbClr val="A9B6C5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692640" y="1956816"/>
            <a:ext cx="932688" cy="1353312"/>
          </a:xfrm>
          <a:prstGeom prst="line">
            <a:avLst/>
          </a:prstGeom>
          <a:noFill/>
          <a:ln w="6985">
            <a:solidFill>
              <a:srgbClr val="A9B6C5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692640" y="2596896"/>
            <a:ext cx="932688" cy="-713232"/>
          </a:xfrm>
          <a:prstGeom prst="line">
            <a:avLst/>
          </a:prstGeom>
          <a:noFill/>
          <a:ln w="6985">
            <a:solidFill>
              <a:srgbClr val="A9B6C5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9692640" y="2596896"/>
            <a:ext cx="932688" cy="0"/>
          </a:xfrm>
          <a:prstGeom prst="line">
            <a:avLst/>
          </a:prstGeom>
          <a:noFill/>
          <a:ln w="6985">
            <a:solidFill>
              <a:srgbClr val="A9B6C5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692640" y="2596896"/>
            <a:ext cx="932688" cy="713232"/>
          </a:xfrm>
          <a:prstGeom prst="line">
            <a:avLst/>
          </a:prstGeom>
          <a:noFill/>
          <a:ln w="6985">
            <a:solidFill>
              <a:srgbClr val="A9B6C5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9692640" y="3236976"/>
            <a:ext cx="932688" cy="-1353312"/>
          </a:xfrm>
          <a:prstGeom prst="line">
            <a:avLst/>
          </a:prstGeom>
          <a:noFill/>
          <a:ln w="6985">
            <a:solidFill>
              <a:srgbClr val="A9B6C5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9692640" y="3236976"/>
            <a:ext cx="932688" cy="-640080"/>
          </a:xfrm>
          <a:prstGeom prst="line">
            <a:avLst/>
          </a:prstGeom>
          <a:noFill/>
          <a:ln w="6985">
            <a:solidFill>
              <a:srgbClr val="A9B6C5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9692640" y="3236976"/>
            <a:ext cx="932688" cy="73152"/>
          </a:xfrm>
          <a:prstGeom prst="line">
            <a:avLst/>
          </a:prstGeom>
          <a:noFill/>
          <a:ln w="6985">
            <a:solidFill>
              <a:srgbClr val="A9B6C5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7086600" y="1591056"/>
            <a:ext cx="384048" cy="384048"/>
          </a:xfrm>
          <a:prstGeom prst="ellipse">
            <a:avLst/>
          </a:prstGeom>
          <a:solidFill>
            <a:srgbClr val="2D5F87"/>
          </a:solidFill>
          <a:ln w="12700">
            <a:solidFill>
              <a:srgbClr val="2D5F8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086600" y="2139696"/>
            <a:ext cx="384048" cy="384048"/>
          </a:xfrm>
          <a:prstGeom prst="ellipse">
            <a:avLst/>
          </a:prstGeom>
          <a:solidFill>
            <a:srgbClr val="2D5F87"/>
          </a:solidFill>
          <a:ln w="12700">
            <a:solidFill>
              <a:srgbClr val="2D5F8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086600" y="2688336"/>
            <a:ext cx="384048" cy="384048"/>
          </a:xfrm>
          <a:prstGeom prst="ellipse">
            <a:avLst/>
          </a:prstGeom>
          <a:solidFill>
            <a:srgbClr val="2D5F87"/>
          </a:solidFill>
          <a:ln w="12700">
            <a:solidFill>
              <a:srgbClr val="2D5F8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229600" y="1417320"/>
            <a:ext cx="384048" cy="384048"/>
          </a:xfrm>
          <a:prstGeom prst="ellipse">
            <a:avLst/>
          </a:prstGeom>
          <a:solidFill>
            <a:srgbClr val="C58A00"/>
          </a:solidFill>
          <a:ln w="12700">
            <a:solidFill>
              <a:srgbClr val="C58A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229600" y="1965960"/>
            <a:ext cx="384048" cy="384048"/>
          </a:xfrm>
          <a:prstGeom prst="ellipse">
            <a:avLst/>
          </a:prstGeom>
          <a:solidFill>
            <a:srgbClr val="C58A00"/>
          </a:solidFill>
          <a:ln w="12700">
            <a:solidFill>
              <a:srgbClr val="C58A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29600" y="2514600"/>
            <a:ext cx="384048" cy="384048"/>
          </a:xfrm>
          <a:prstGeom prst="ellipse">
            <a:avLst/>
          </a:prstGeom>
          <a:solidFill>
            <a:srgbClr val="C58A00"/>
          </a:solidFill>
          <a:ln w="12700">
            <a:solidFill>
              <a:srgbClr val="C58A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29600" y="3063240"/>
            <a:ext cx="384048" cy="384048"/>
          </a:xfrm>
          <a:prstGeom prst="ellipse">
            <a:avLst/>
          </a:prstGeom>
          <a:solidFill>
            <a:srgbClr val="C58A00"/>
          </a:solidFill>
          <a:ln w="12700">
            <a:solidFill>
              <a:srgbClr val="C58A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400032" y="1664208"/>
            <a:ext cx="384048" cy="384048"/>
          </a:xfrm>
          <a:prstGeom prst="ellipse">
            <a:avLst/>
          </a:prstGeom>
          <a:solidFill>
            <a:srgbClr val="C58A00"/>
          </a:solidFill>
          <a:ln w="12700">
            <a:solidFill>
              <a:srgbClr val="C58A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400032" y="2304288"/>
            <a:ext cx="384048" cy="384048"/>
          </a:xfrm>
          <a:prstGeom prst="ellipse">
            <a:avLst/>
          </a:prstGeom>
          <a:solidFill>
            <a:srgbClr val="C58A00"/>
          </a:solidFill>
          <a:ln w="12700">
            <a:solidFill>
              <a:srgbClr val="C58A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400032" y="2944368"/>
            <a:ext cx="384048" cy="384048"/>
          </a:xfrm>
          <a:prstGeom prst="ellipse">
            <a:avLst/>
          </a:prstGeom>
          <a:solidFill>
            <a:srgbClr val="C58A00"/>
          </a:solidFill>
          <a:ln w="12700">
            <a:solidFill>
              <a:srgbClr val="C58A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625328" y="1591056"/>
            <a:ext cx="384048" cy="384048"/>
          </a:xfrm>
          <a:prstGeom prst="ellipse">
            <a:avLst/>
          </a:prstGeom>
          <a:solidFill>
            <a:srgbClr val="6B4FA2"/>
          </a:solidFill>
          <a:ln w="12700">
            <a:solidFill>
              <a:srgbClr val="6B4FA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625328" y="2304288"/>
            <a:ext cx="384048" cy="384048"/>
          </a:xfrm>
          <a:prstGeom prst="ellipse">
            <a:avLst/>
          </a:prstGeom>
          <a:solidFill>
            <a:srgbClr val="6B4FA2"/>
          </a:solidFill>
          <a:ln w="12700">
            <a:solidFill>
              <a:srgbClr val="6B4FA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625328" y="3017520"/>
            <a:ext cx="384048" cy="384048"/>
          </a:xfrm>
          <a:prstGeom prst="ellipse">
            <a:avLst/>
          </a:prstGeom>
          <a:solidFill>
            <a:srgbClr val="6B4FA2"/>
          </a:solidFill>
          <a:ln w="12700">
            <a:solidFill>
              <a:srgbClr val="6B4FA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49440" y="369417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7909560" y="3694176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Dense 128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Dropout 30%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9144000" y="3694176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Dense 64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Dropout 30%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10378440" y="3694176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Softmax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classes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77240" y="4297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choices</a:t>
            </a:r>
            <a:endParaRPr lang="en-US" sz="2000" dirty="0"/>
          </a:p>
        </p:txBody>
      </p:sp>
      <p:sp>
        <p:nvSpPr>
          <p:cNvPr id="69" name="Text 67"/>
          <p:cNvSpPr/>
          <p:nvPr/>
        </p:nvSpPr>
        <p:spPr>
          <a:xfrm>
            <a:off x="804672" y="4700016"/>
            <a:ext cx="52120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Dense 128 -&gt; Dropout -&gt; Dense 64 -&gt; Dropout -&gt; Softmax(3)</a:t>
            </a:r>
            <a:endParaRPr lang="en-US" sz="1700" dirty="0"/>
          </a:p>
        </p:txBody>
      </p:sp>
      <p:sp>
        <p:nvSpPr>
          <p:cNvPr id="70" name="Text 68"/>
          <p:cNvSpPr/>
          <p:nvPr/>
        </p:nvSpPr>
        <p:spPr>
          <a:xfrm>
            <a:off x="804672" y="5230368"/>
            <a:ext cx="996696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Loss: sparse_categorical_crossentropy. Optimizer: Adam with learning rate 0.001. Output: class probabilities for 0, 1, and 2.</a:t>
            </a:r>
            <a:endParaRPr lang="en-US" sz="16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B"/>
          </a:solidFill>
          <a:ln w="12700">
            <a:solidFill>
              <a:srgbClr val="1F3A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50292"/>
          </a:xfrm>
          <a:prstGeom prst="rect">
            <a:avLst/>
          </a:prstGeom>
          <a:solidFill>
            <a:srgbClr val="C58A00"/>
          </a:solidFill>
          <a:ln w="12700">
            <a:solidFill>
              <a:srgbClr val="C58A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437376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strategy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28832" y="63916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" y="438912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4-fold stratified cross-validation matters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603504" y="103327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row is evaluated once while each fold preserves the class mix.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685800" y="188366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Fold 1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481328" y="1828800"/>
            <a:ext cx="1545336" cy="438912"/>
          </a:xfrm>
          <a:prstGeom prst="rect">
            <a:avLst/>
          </a:prstGeom>
          <a:solidFill>
            <a:srgbClr val="F6E8C9"/>
          </a:solidFill>
          <a:ln w="11430">
            <a:solidFill>
              <a:srgbClr val="C58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27048" y="1956816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81528" y="1828800"/>
            <a:ext cx="1545336" cy="438912"/>
          </a:xfrm>
          <a:prstGeom prst="rect">
            <a:avLst/>
          </a:prstGeom>
          <a:solidFill>
            <a:srgbClr val="EAF1F7"/>
          </a:solidFill>
          <a:ln w="11430">
            <a:solidFill>
              <a:srgbClr val="2D5F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27248" y="1956816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81728" y="1828800"/>
            <a:ext cx="1545336" cy="438912"/>
          </a:xfrm>
          <a:prstGeom prst="rect">
            <a:avLst/>
          </a:prstGeom>
          <a:solidFill>
            <a:srgbClr val="EAF1F7"/>
          </a:solidFill>
          <a:ln w="11430">
            <a:solidFill>
              <a:srgbClr val="2D5F8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1956816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81928" y="1828800"/>
            <a:ext cx="1545336" cy="438912"/>
          </a:xfrm>
          <a:prstGeom prst="rect">
            <a:avLst/>
          </a:prstGeom>
          <a:solidFill>
            <a:srgbClr val="EAF1F7"/>
          </a:solidFill>
          <a:ln w="11430">
            <a:solidFill>
              <a:srgbClr val="2D5F8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1956816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5800" y="25420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Fold 2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481328" y="2487168"/>
            <a:ext cx="1545336" cy="438912"/>
          </a:xfrm>
          <a:prstGeom prst="rect">
            <a:avLst/>
          </a:prstGeom>
          <a:solidFill>
            <a:srgbClr val="EAF1F7"/>
          </a:solidFill>
          <a:ln w="11430">
            <a:solidFill>
              <a:srgbClr val="2D5F8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27048" y="2615184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081528" y="2487168"/>
            <a:ext cx="1545336" cy="438912"/>
          </a:xfrm>
          <a:prstGeom prst="rect">
            <a:avLst/>
          </a:prstGeom>
          <a:solidFill>
            <a:srgbClr val="F6E8C9"/>
          </a:solidFill>
          <a:ln w="11430">
            <a:solidFill>
              <a:srgbClr val="C58A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27248" y="2615184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81728" y="2487168"/>
            <a:ext cx="1545336" cy="438912"/>
          </a:xfrm>
          <a:prstGeom prst="rect">
            <a:avLst/>
          </a:prstGeom>
          <a:solidFill>
            <a:srgbClr val="EAF1F7"/>
          </a:solidFill>
          <a:ln w="11430">
            <a:solidFill>
              <a:srgbClr val="2D5F8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7448" y="2615184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81928" y="2487168"/>
            <a:ext cx="1545336" cy="438912"/>
          </a:xfrm>
          <a:prstGeom prst="rect">
            <a:avLst/>
          </a:prstGeom>
          <a:solidFill>
            <a:srgbClr val="EAF1F7"/>
          </a:solidFill>
          <a:ln w="11430">
            <a:solidFill>
              <a:srgbClr val="2D5F8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7648" y="2615184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5800" y="32004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Fold 3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481328" y="3145536"/>
            <a:ext cx="1545336" cy="438912"/>
          </a:xfrm>
          <a:prstGeom prst="rect">
            <a:avLst/>
          </a:prstGeom>
          <a:solidFill>
            <a:srgbClr val="EAF1F7"/>
          </a:solidFill>
          <a:ln w="11430">
            <a:solidFill>
              <a:srgbClr val="2D5F8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27048" y="3273552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081528" y="3145536"/>
            <a:ext cx="1545336" cy="438912"/>
          </a:xfrm>
          <a:prstGeom prst="rect">
            <a:avLst/>
          </a:prstGeom>
          <a:solidFill>
            <a:srgbClr val="EAF1F7"/>
          </a:solidFill>
          <a:ln w="11430">
            <a:solidFill>
              <a:srgbClr val="2D5F8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27248" y="3273552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81728" y="3145536"/>
            <a:ext cx="1545336" cy="438912"/>
          </a:xfrm>
          <a:prstGeom prst="rect">
            <a:avLst/>
          </a:prstGeom>
          <a:solidFill>
            <a:srgbClr val="F6E8C9"/>
          </a:solidFill>
          <a:ln w="11430">
            <a:solidFill>
              <a:srgbClr val="C58A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27448" y="3273552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81928" y="3145536"/>
            <a:ext cx="1545336" cy="438912"/>
          </a:xfrm>
          <a:prstGeom prst="rect">
            <a:avLst/>
          </a:prstGeom>
          <a:solidFill>
            <a:srgbClr val="EAF1F7"/>
          </a:solidFill>
          <a:ln w="11430">
            <a:solidFill>
              <a:srgbClr val="2D5F8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27648" y="3273552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85800" y="385876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Fold 4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1481328" y="3803904"/>
            <a:ext cx="1545336" cy="438912"/>
          </a:xfrm>
          <a:prstGeom prst="rect">
            <a:avLst/>
          </a:prstGeom>
          <a:solidFill>
            <a:srgbClr val="EAF1F7"/>
          </a:solidFill>
          <a:ln w="11430">
            <a:solidFill>
              <a:srgbClr val="2D5F8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527048" y="3931920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081528" y="3803904"/>
            <a:ext cx="1545336" cy="438912"/>
          </a:xfrm>
          <a:prstGeom prst="rect">
            <a:avLst/>
          </a:prstGeom>
          <a:solidFill>
            <a:srgbClr val="EAF1F7"/>
          </a:solidFill>
          <a:ln w="11430">
            <a:solidFill>
              <a:srgbClr val="2D5F8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27248" y="3931920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681728" y="3803904"/>
            <a:ext cx="1545336" cy="438912"/>
          </a:xfrm>
          <a:prstGeom prst="rect">
            <a:avLst/>
          </a:prstGeom>
          <a:solidFill>
            <a:srgbClr val="EAF1F7"/>
          </a:solidFill>
          <a:ln w="11430">
            <a:solidFill>
              <a:srgbClr val="2D5F8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27448" y="3931920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81928" y="3803904"/>
            <a:ext cx="1545336" cy="438912"/>
          </a:xfrm>
          <a:prstGeom prst="rect">
            <a:avLst/>
          </a:prstGeom>
          <a:solidFill>
            <a:srgbClr val="F6E8C9"/>
          </a:solidFill>
          <a:ln w="11430">
            <a:solidFill>
              <a:srgbClr val="C58A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27648" y="3931920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14400" y="4800600"/>
            <a:ext cx="1417320" cy="347472"/>
          </a:xfrm>
          <a:prstGeom prst="roundRect">
            <a:avLst>
              <a:gd name="adj" fmla="val 31579"/>
            </a:avLst>
          </a:prstGeom>
          <a:solidFill>
            <a:srgbClr val="2D5F87"/>
          </a:solidFill>
          <a:ln w="12700">
            <a:solidFill>
              <a:srgbClr val="2D5F87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87552" y="4855464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data</a:t>
            </a:r>
            <a:endParaRPr lang="en-US" sz="1280" dirty="0"/>
          </a:p>
        </p:txBody>
      </p:sp>
      <p:sp>
        <p:nvSpPr>
          <p:cNvPr id="48" name="Shape 46"/>
          <p:cNvSpPr/>
          <p:nvPr/>
        </p:nvSpPr>
        <p:spPr>
          <a:xfrm>
            <a:off x="2514600" y="4800600"/>
            <a:ext cx="1572768" cy="347472"/>
          </a:xfrm>
          <a:prstGeom prst="roundRect">
            <a:avLst>
              <a:gd name="adj" fmla="val 31579"/>
            </a:avLst>
          </a:prstGeom>
          <a:solidFill>
            <a:srgbClr val="C58A00"/>
          </a:solidFill>
          <a:ln w="12700">
            <a:solidFill>
              <a:srgbClr val="C58A00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87752" y="4855464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data</a:t>
            </a:r>
            <a:endParaRPr lang="en-US" sz="1280" dirty="0"/>
          </a:p>
        </p:txBody>
      </p:sp>
      <p:sp>
        <p:nvSpPr>
          <p:cNvPr id="50" name="Shape 48"/>
          <p:cNvSpPr/>
          <p:nvPr/>
        </p:nvSpPr>
        <p:spPr>
          <a:xfrm>
            <a:off x="8641080" y="1700784"/>
            <a:ext cx="2560320" cy="3063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E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89720" y="19385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Benefits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8887968" y="2514600"/>
            <a:ext cx="2121408" cy="17556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More stable estimate than a single split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Reduces dependence on one random holdout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Helps detect class-specific weaknesses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Provides fold-by-fold CSV results</a:t>
            </a:r>
            <a:endParaRPr lang="en-US" sz="1450" dirty="0"/>
          </a:p>
        </p:txBody>
      </p:sp>
      <p:sp>
        <p:nvSpPr>
          <p:cNvPr id="53" name="Text 51"/>
          <p:cNvSpPr/>
          <p:nvPr/>
        </p:nvSpPr>
        <p:spPr>
          <a:xfrm>
            <a:off x="914400" y="5596128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StratifiedKFold keeps class proportions similar across the four validation rounds.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B"/>
          </a:solidFill>
          <a:ln w="12700">
            <a:solidFill>
              <a:srgbClr val="1F3A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50292"/>
          </a:xfrm>
          <a:prstGeom prst="rect">
            <a:avLst/>
          </a:prstGeom>
          <a:solidFill>
            <a:srgbClr val="C58A00"/>
          </a:solidFill>
          <a:ln w="12700">
            <a:solidFill>
              <a:srgbClr val="C58A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437376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outputs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28832" y="63916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" y="438912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code reports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603504" y="103327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 and charts translate model behavior into interpretable project evidence.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713232" y="15727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Confusion matrix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737360" y="19842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 rot="16200000">
            <a:off x="301752" y="342900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2395728"/>
            <a:ext cx="868680" cy="475488"/>
          </a:xfrm>
          <a:prstGeom prst="rect">
            <a:avLst/>
          </a:prstGeom>
          <a:solidFill>
            <a:srgbClr val="1F3A5B"/>
          </a:solidFill>
          <a:ln w="10160">
            <a:solidFill>
              <a:srgbClr val="D5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0" y="2395728"/>
            <a:ext cx="868680" cy="475488"/>
          </a:xfrm>
          <a:prstGeom prst="rect">
            <a:avLst/>
          </a:prstGeom>
          <a:solidFill>
            <a:srgbClr val="1F3A5B"/>
          </a:solidFill>
          <a:ln w="10160">
            <a:solidFill>
              <a:srgbClr val="D5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73352" y="2542032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Legit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2514600" y="2395728"/>
            <a:ext cx="868680" cy="475488"/>
          </a:xfrm>
          <a:prstGeom prst="rect">
            <a:avLst/>
          </a:prstGeom>
          <a:solidFill>
            <a:srgbClr val="1F3A5B"/>
          </a:solidFill>
          <a:ln w="10160">
            <a:solidFill>
              <a:srgbClr val="D5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42032" y="2542032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3383280" y="2395728"/>
            <a:ext cx="868680" cy="475488"/>
          </a:xfrm>
          <a:prstGeom prst="rect">
            <a:avLst/>
          </a:prstGeom>
          <a:solidFill>
            <a:srgbClr val="1F3A5B"/>
          </a:solidFill>
          <a:ln w="10160">
            <a:solidFill>
              <a:srgbClr val="D5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0712" y="2542032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GPT-4o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777240" y="2871216"/>
            <a:ext cx="868680" cy="475488"/>
          </a:xfrm>
          <a:prstGeom prst="rect">
            <a:avLst/>
          </a:prstGeom>
          <a:solidFill>
            <a:srgbClr val="1F3A5B"/>
          </a:solidFill>
          <a:ln w="10160">
            <a:solidFill>
              <a:srgbClr val="D5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017520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Legit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1645920" y="2871216"/>
            <a:ext cx="868680" cy="475488"/>
          </a:xfrm>
          <a:prstGeom prst="rect">
            <a:avLst/>
          </a:prstGeom>
          <a:solidFill>
            <a:srgbClr val="EAF1F7"/>
          </a:solidFill>
          <a:ln w="10160">
            <a:solidFill>
              <a:srgbClr val="D5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73352" y="3017520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14600" y="2871216"/>
            <a:ext cx="868680" cy="475488"/>
          </a:xfrm>
          <a:prstGeom prst="rect">
            <a:avLst/>
          </a:prstGeom>
          <a:solidFill>
            <a:srgbClr val="F8E9E9"/>
          </a:solidFill>
          <a:ln w="10160">
            <a:solidFill>
              <a:srgbClr val="D5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42032" y="3017520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248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83280" y="2871216"/>
            <a:ext cx="868680" cy="475488"/>
          </a:xfrm>
          <a:prstGeom prst="rect">
            <a:avLst/>
          </a:prstGeom>
          <a:solidFill>
            <a:srgbClr val="F8E9E9"/>
          </a:solidFill>
          <a:ln w="10160">
            <a:solidFill>
              <a:srgbClr val="D5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10712" y="3017520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248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77240" y="3346704"/>
            <a:ext cx="868680" cy="475488"/>
          </a:xfrm>
          <a:prstGeom prst="rect">
            <a:avLst/>
          </a:prstGeom>
          <a:solidFill>
            <a:srgbClr val="1F3A5B"/>
          </a:solidFill>
          <a:ln w="10160">
            <a:solidFill>
              <a:srgbClr val="D5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3493008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1645920" y="3346704"/>
            <a:ext cx="868680" cy="475488"/>
          </a:xfrm>
          <a:prstGeom prst="rect">
            <a:avLst/>
          </a:prstGeom>
          <a:solidFill>
            <a:srgbClr val="F8E9E9"/>
          </a:solidFill>
          <a:ln w="10160">
            <a:solidFill>
              <a:srgbClr val="D5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73352" y="3493008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248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514600" y="3346704"/>
            <a:ext cx="868680" cy="475488"/>
          </a:xfrm>
          <a:prstGeom prst="rect">
            <a:avLst/>
          </a:prstGeom>
          <a:solidFill>
            <a:srgbClr val="EAF1F7"/>
          </a:solidFill>
          <a:ln w="10160">
            <a:solidFill>
              <a:srgbClr val="D5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42032" y="3493008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383280" y="3346704"/>
            <a:ext cx="868680" cy="475488"/>
          </a:xfrm>
          <a:prstGeom prst="rect">
            <a:avLst/>
          </a:prstGeom>
          <a:solidFill>
            <a:srgbClr val="F8E9E9"/>
          </a:solidFill>
          <a:ln w="10160">
            <a:solidFill>
              <a:srgbClr val="D5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10712" y="3493008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248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77240" y="3822192"/>
            <a:ext cx="868680" cy="475488"/>
          </a:xfrm>
          <a:prstGeom prst="rect">
            <a:avLst/>
          </a:prstGeom>
          <a:solidFill>
            <a:srgbClr val="1F3A5B"/>
          </a:solidFill>
          <a:ln w="10160">
            <a:solidFill>
              <a:srgbClr val="D5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" y="3968496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GPT-4o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1645920" y="3822192"/>
            <a:ext cx="868680" cy="475488"/>
          </a:xfrm>
          <a:prstGeom prst="rect">
            <a:avLst/>
          </a:prstGeom>
          <a:solidFill>
            <a:srgbClr val="F8E9E9"/>
          </a:solidFill>
          <a:ln w="10160">
            <a:solidFill>
              <a:srgbClr val="D5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73352" y="3968496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248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514600" y="3822192"/>
            <a:ext cx="868680" cy="475488"/>
          </a:xfrm>
          <a:prstGeom prst="rect">
            <a:avLst/>
          </a:prstGeom>
          <a:solidFill>
            <a:srgbClr val="F8E9E9"/>
          </a:solidFill>
          <a:ln w="10160">
            <a:solidFill>
              <a:srgbClr val="D5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42032" y="3968496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248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383280" y="3822192"/>
            <a:ext cx="868680" cy="475488"/>
          </a:xfrm>
          <a:prstGeom prst="rect">
            <a:avLst/>
          </a:prstGeom>
          <a:solidFill>
            <a:srgbClr val="EAF1F7"/>
          </a:solidFill>
          <a:ln w="10160">
            <a:solidFill>
              <a:srgbClr val="D5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10712" y="3968496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754880" y="16916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Weighted metrics</a:t>
            </a:r>
            <a:endParaRPr lang="en-US" sz="2100" dirty="0"/>
          </a:p>
        </p:txBody>
      </p:sp>
      <p:sp>
        <p:nvSpPr>
          <p:cNvPr id="45" name="Shape 43"/>
          <p:cNvSpPr/>
          <p:nvPr/>
        </p:nvSpPr>
        <p:spPr>
          <a:xfrm>
            <a:off x="4800600" y="2212848"/>
            <a:ext cx="297180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83480" y="233172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5989320" y="233172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 correct</a:t>
            </a:r>
            <a:endParaRPr lang="en-US" sz="940" dirty="0"/>
          </a:p>
        </p:txBody>
      </p:sp>
      <p:sp>
        <p:nvSpPr>
          <p:cNvPr id="48" name="Shape 46"/>
          <p:cNvSpPr/>
          <p:nvPr/>
        </p:nvSpPr>
        <p:spPr>
          <a:xfrm>
            <a:off x="4800600" y="2871216"/>
            <a:ext cx="2971800" cy="475488"/>
          </a:xfrm>
          <a:prstGeom prst="roundRect">
            <a:avLst/>
          </a:prstGeom>
          <a:solidFill>
            <a:srgbClr val="F3F6FA"/>
          </a:solidFill>
          <a:ln w="10160">
            <a:solidFill>
              <a:srgbClr val="D5DE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83480" y="299008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5989320" y="29900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predicted class quality</a:t>
            </a:r>
            <a:endParaRPr lang="en-US" sz="940" dirty="0"/>
          </a:p>
        </p:txBody>
      </p:sp>
      <p:sp>
        <p:nvSpPr>
          <p:cNvPr id="51" name="Shape 49"/>
          <p:cNvSpPr/>
          <p:nvPr/>
        </p:nvSpPr>
        <p:spPr>
          <a:xfrm>
            <a:off x="4800600" y="3529584"/>
            <a:ext cx="297180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E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83480" y="364845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5989320" y="364845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 class coverage</a:t>
            </a:r>
            <a:endParaRPr lang="en-US" sz="940" dirty="0"/>
          </a:p>
        </p:txBody>
      </p:sp>
      <p:sp>
        <p:nvSpPr>
          <p:cNvPr id="54" name="Shape 52"/>
          <p:cNvSpPr/>
          <p:nvPr/>
        </p:nvSpPr>
        <p:spPr>
          <a:xfrm>
            <a:off x="4800600" y="4187952"/>
            <a:ext cx="2971800" cy="475488"/>
          </a:xfrm>
          <a:prstGeom prst="roundRect">
            <a:avLst/>
          </a:prstGeom>
          <a:solidFill>
            <a:srgbClr val="F3F6FA"/>
          </a:solidFill>
          <a:ln w="10160">
            <a:solidFill>
              <a:srgbClr val="D5DE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83480" y="430682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5989320" y="430682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precision-recall balance</a:t>
            </a:r>
            <a:endParaRPr lang="en-US" sz="940" dirty="0"/>
          </a:p>
        </p:txBody>
      </p:sp>
      <p:sp>
        <p:nvSpPr>
          <p:cNvPr id="57" name="Text 55"/>
          <p:cNvSpPr/>
          <p:nvPr/>
        </p:nvSpPr>
        <p:spPr>
          <a:xfrm>
            <a:off x="8686800" y="16916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Saved artifacts</a:t>
            </a:r>
            <a:endParaRPr lang="en-US" sz="2100" dirty="0"/>
          </a:p>
        </p:txBody>
      </p:sp>
      <p:sp>
        <p:nvSpPr>
          <p:cNvPr id="58" name="Shape 56"/>
          <p:cNvSpPr/>
          <p:nvPr/>
        </p:nvSpPr>
        <p:spPr>
          <a:xfrm>
            <a:off x="8915400" y="2240280"/>
            <a:ext cx="1965960" cy="658368"/>
          </a:xfrm>
          <a:prstGeom prst="roundRect">
            <a:avLst>
              <a:gd name="adj" fmla="val 11111"/>
            </a:avLst>
          </a:prstGeom>
          <a:solidFill>
            <a:srgbClr val="EAF1F7"/>
          </a:solidFill>
          <a:ln w="13970">
            <a:solidFill>
              <a:srgbClr val="2D5F8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88552" y="2313432"/>
            <a:ext cx="1819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 count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 chart</a:t>
            </a:r>
            <a:endParaRPr lang="en-US" sz="1320" dirty="0"/>
          </a:p>
        </p:txBody>
      </p:sp>
      <p:sp>
        <p:nvSpPr>
          <p:cNvPr id="60" name="Shape 58"/>
          <p:cNvSpPr/>
          <p:nvPr/>
        </p:nvSpPr>
        <p:spPr>
          <a:xfrm>
            <a:off x="8915400" y="3090672"/>
            <a:ext cx="1965960" cy="658368"/>
          </a:xfrm>
          <a:prstGeom prst="roundRect">
            <a:avLst>
              <a:gd name="adj" fmla="val 11111"/>
            </a:avLst>
          </a:prstGeom>
          <a:solidFill>
            <a:srgbClr val="F6E8C9"/>
          </a:solidFill>
          <a:ln w="13970">
            <a:solidFill>
              <a:srgbClr val="C58A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988552" y="3163824"/>
            <a:ext cx="1819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metrics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 chart</a:t>
            </a:r>
            <a:endParaRPr lang="en-US" sz="1320" dirty="0"/>
          </a:p>
        </p:txBody>
      </p:sp>
      <p:sp>
        <p:nvSpPr>
          <p:cNvPr id="62" name="Shape 60"/>
          <p:cNvSpPr/>
          <p:nvPr/>
        </p:nvSpPr>
        <p:spPr>
          <a:xfrm>
            <a:off x="8915400" y="3941064"/>
            <a:ext cx="1965960" cy="658368"/>
          </a:xfrm>
          <a:prstGeom prst="roundRect">
            <a:avLst>
              <a:gd name="adj" fmla="val 11111"/>
            </a:avLst>
          </a:prstGeom>
          <a:solidFill>
            <a:srgbClr val="EFEAF8"/>
          </a:solidFill>
          <a:ln w="13970">
            <a:solidFill>
              <a:srgbClr val="6B4FA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988552" y="4014216"/>
            <a:ext cx="18196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summaries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folds and overall</a:t>
            </a:r>
            <a:endParaRPr lang="en-US" sz="1320" dirty="0"/>
          </a:p>
        </p:txBody>
      </p:sp>
      <p:sp>
        <p:nvSpPr>
          <p:cNvPr id="64" name="Text 62"/>
          <p:cNvSpPr/>
          <p:nvPr/>
        </p:nvSpPr>
        <p:spPr>
          <a:xfrm>
            <a:off x="914400" y="555040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1F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 support both numerical analysis and visual presentation.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B"/>
          </a:solidFill>
          <a:ln w="12700">
            <a:solidFill>
              <a:srgbClr val="1F3A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50292"/>
          </a:xfrm>
          <a:prstGeom prst="rect">
            <a:avLst/>
          </a:prstGeom>
          <a:solidFill>
            <a:srgbClr val="C58A00"/>
          </a:solidFill>
          <a:ln w="12700">
            <a:solidFill>
              <a:srgbClr val="C58A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437376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output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28832" y="63916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" y="438912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ANN also separates rows into three files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603504" y="103327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validation, a final model predicts every row and writes model-based CSV outputs.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2724912" y="2907792"/>
            <a:ext cx="1161288" cy="-850392"/>
          </a:xfrm>
          <a:prstGeom prst="line">
            <a:avLst/>
          </a:prstGeom>
          <a:noFill/>
          <a:ln w="22860">
            <a:solidFill>
              <a:srgbClr val="C58A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24912" y="2907792"/>
            <a:ext cx="1161288" cy="0"/>
          </a:xfrm>
          <a:prstGeom prst="line">
            <a:avLst/>
          </a:prstGeom>
          <a:noFill/>
          <a:ln w="22860">
            <a:solidFill>
              <a:srgbClr val="C58A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724912" y="2907792"/>
            <a:ext cx="1161288" cy="850392"/>
          </a:xfrm>
          <a:prstGeom prst="line">
            <a:avLst/>
          </a:prstGeom>
          <a:noFill/>
          <a:ln w="22860">
            <a:solidFill>
              <a:srgbClr val="C58A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13232" y="2212848"/>
            <a:ext cx="1920240" cy="1243584"/>
          </a:xfrm>
          <a:prstGeom prst="roundRect">
            <a:avLst/>
          </a:prstGeom>
          <a:solidFill>
            <a:srgbClr val="1F3A5B"/>
          </a:solidFill>
          <a:ln w="12700">
            <a:solidFill>
              <a:srgbClr val="1F3A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251460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KSU output folder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977640" y="1664208"/>
            <a:ext cx="34290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2F7D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50792" y="1737360"/>
            <a:ext cx="3282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ann_predicted_legitimate.csv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3977640" y="2514600"/>
            <a:ext cx="34290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B248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50792" y="2587752"/>
            <a:ext cx="3282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ann_predicted_human_phishing.csv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3977640" y="3364992"/>
            <a:ext cx="34290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6B4FA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50792" y="3438144"/>
            <a:ext cx="3282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ann_predicted_gpt_4o_phishing.csv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818120" y="1737360"/>
            <a:ext cx="3474720" cy="2057400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2D5F8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65008" y="201168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Additional audit file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138160" y="257860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ann_all_rows_with_predictions.csv</a:t>
            </a:r>
            <a:endParaRPr lang="en-US" sz="1350" dirty="0"/>
          </a:p>
          <a:p>
            <a:pPr algn="ctr" indent="0" marL="0">
              <a:buNone/>
            </a:pP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Includes actual label name, predicted label name, and prediction confidence.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68680" y="507492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F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path: c:\users\david\onedrive\documents\ksu\output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005840" y="5596128"/>
            <a:ext cx="10149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interpretation: the split is based on the ANN predicted label, not simply the original label column.</a:t>
            </a:r>
            <a:endParaRPr lang="en-US" sz="1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B"/>
          </a:solidFill>
          <a:ln w="12700">
            <a:solidFill>
              <a:srgbClr val="1F3A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50292"/>
          </a:xfrm>
          <a:prstGeom prst="rect">
            <a:avLst/>
          </a:prstGeom>
          <a:solidFill>
            <a:srgbClr val="C58A00"/>
          </a:solidFill>
          <a:ln w="12700">
            <a:solidFill>
              <a:srgbClr val="C58A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437376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contribution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28832" y="63916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" y="438912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 project is methodologically appropriate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603504" y="103327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links implementation, methodology, evaluation, and cybersecurity relevance.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6080760" y="2560320"/>
            <a:ext cx="-1856232" cy="1993392"/>
          </a:xfrm>
          <a:prstGeom prst="line">
            <a:avLst/>
          </a:prstGeom>
          <a:noFill/>
          <a:ln w="19050">
            <a:solidFill>
              <a:srgbClr val="1F3A5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355080" y="2560320"/>
            <a:ext cx="1920240" cy="1993392"/>
          </a:xfrm>
          <a:prstGeom prst="line">
            <a:avLst/>
          </a:prstGeom>
          <a:noFill/>
          <a:ln w="19050">
            <a:solidFill>
              <a:srgbClr val="1F3A5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80560" y="4754880"/>
            <a:ext cx="3547872" cy="0"/>
          </a:xfrm>
          <a:prstGeom prst="line">
            <a:avLst/>
          </a:prstGeom>
          <a:noFill/>
          <a:ln w="19050">
            <a:solidFill>
              <a:srgbClr val="1F3A5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85232" y="1737360"/>
            <a:ext cx="1463040" cy="1463040"/>
          </a:xfrm>
          <a:prstGeom prst="ellipse">
            <a:avLst/>
          </a:prstGeom>
          <a:solidFill>
            <a:srgbClr val="F6E8C9"/>
          </a:solidFill>
          <a:ln w="15240">
            <a:solidFill>
              <a:srgbClr val="C58A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4114800"/>
            <a:ext cx="1463040" cy="1463040"/>
          </a:xfrm>
          <a:prstGeom prst="ellipse">
            <a:avLst/>
          </a:prstGeom>
          <a:solidFill>
            <a:srgbClr val="EAF1F7"/>
          </a:solidFill>
          <a:ln w="15240">
            <a:solidFill>
              <a:srgbClr val="2D5F8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35240" y="4114800"/>
            <a:ext cx="1463040" cy="1463040"/>
          </a:xfrm>
          <a:prstGeom prst="ellipse">
            <a:avLst/>
          </a:prstGeom>
          <a:solidFill>
            <a:srgbClr val="EFEAF8"/>
          </a:solidFill>
          <a:ln w="15240">
            <a:solidFill>
              <a:srgbClr val="6B4F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219456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rigor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639312" y="457200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Reproducible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45552" y="457200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17830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Strengths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58952" y="2267712"/>
            <a:ext cx="2651760" cy="1965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Three-class phishing problem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- 4-fold validation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Weighted metrics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Saved charts and CSVs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Prediction-based data sorting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464040" y="17830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work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464040" y="2267712"/>
            <a:ext cx="2103120" cy="1965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Compare against classical ML models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Add transformer baselines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Use a holdout test set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Study class imbalance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Add explainability methods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574243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F3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value comes from connecting code decisions to research design and cybersecurity interpretation.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B"/>
          </a:solidFill>
          <a:ln w="12700">
            <a:solidFill>
              <a:srgbClr val="1F3A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46304"/>
            <a:ext cx="12191695" cy="50292"/>
          </a:xfrm>
          <a:prstGeom prst="rect">
            <a:avLst/>
          </a:prstGeom>
          <a:solidFill>
            <a:srgbClr val="C58A00"/>
          </a:solidFill>
          <a:ln w="12700">
            <a:solidFill>
              <a:srgbClr val="C58A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6437376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28832" y="63916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" y="438912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Summary of what was accomplished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603504" y="103327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586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code creates an end-to-end ANN workflow that can be documented, presented, and extended.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868680" y="1911096"/>
            <a:ext cx="658368" cy="658368"/>
          </a:xfrm>
          <a:prstGeom prst="ellipse">
            <a:avLst/>
          </a:prstGeom>
          <a:solidFill>
            <a:srgbClr val="2D5F8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06654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737360" y="178308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Prepared the data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737360" y="220370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Loads the local CSV, handles encoding errors, cleans labels, and counts each class.</a:t>
            </a:r>
            <a:endParaRPr lang="en-US" sz="1480" dirty="0"/>
          </a:p>
        </p:txBody>
      </p:sp>
      <p:sp>
        <p:nvSpPr>
          <p:cNvPr id="14" name="Shape 12"/>
          <p:cNvSpPr/>
          <p:nvPr/>
        </p:nvSpPr>
        <p:spPr>
          <a:xfrm>
            <a:off x="868680" y="3145536"/>
            <a:ext cx="658368" cy="658368"/>
          </a:xfrm>
          <a:prstGeom prst="ellipse">
            <a:avLst/>
          </a:prstGeom>
          <a:solidFill>
            <a:srgbClr val="C58A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30098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737360" y="301752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Evaluated the model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737360" y="343814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TF-IDF features, a Keras ANN, 4-fold stratification, and weighted performance metrics.</a:t>
            </a:r>
            <a:endParaRPr lang="en-US" sz="1480" dirty="0"/>
          </a:p>
        </p:txBody>
      </p:sp>
      <p:sp>
        <p:nvSpPr>
          <p:cNvPr id="18" name="Shape 16"/>
          <p:cNvSpPr/>
          <p:nvPr/>
        </p:nvSpPr>
        <p:spPr>
          <a:xfrm>
            <a:off x="868680" y="4379976"/>
            <a:ext cx="658368" cy="658368"/>
          </a:xfrm>
          <a:prstGeom prst="ellipse">
            <a:avLst/>
          </a:prstGeom>
          <a:solidFill>
            <a:srgbClr val="6B4FA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53542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737360" y="425196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Generated usable outputs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737360" y="467258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Saves charts, metric summaries, the confusion matrix, and three predicted-label CSV files.</a:t>
            </a:r>
            <a:endParaRPr lang="en-US" sz="1480" dirty="0"/>
          </a:p>
        </p:txBody>
      </p:sp>
      <p:sp>
        <p:nvSpPr>
          <p:cNvPr id="22" name="Shape 20"/>
          <p:cNvSpPr/>
          <p:nvPr/>
        </p:nvSpPr>
        <p:spPr>
          <a:xfrm>
            <a:off x="7818120" y="1874520"/>
            <a:ext cx="3337560" cy="26060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65008" y="21488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3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deliverables from code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183880" y="2706624"/>
            <a:ext cx="2560320" cy="1444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Confusion matrix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Label-count bar chart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Performance metrics bar chart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Fold and overall CSVs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Three predicted-label CSVs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0" y="5559552"/>
            <a:ext cx="12191695" cy="502920"/>
          </a:xfrm>
          <a:prstGeom prst="rect">
            <a:avLst/>
          </a:prstGeom>
          <a:solidFill>
            <a:srgbClr val="1F3A5B"/>
          </a:solidFill>
          <a:ln w="12700">
            <a:solidFill>
              <a:srgbClr val="1F3A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66928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Result: a practical, explainable, and extensible machine learning pipeline for phishing classification.</a:t>
            </a:r>
            <a:endParaRPr lang="en-US" sz="1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Neural Network Phishing Classification Project</dc:title>
  <dc:subject>ANN phishing classification workflow presentation</dc:subject>
  <dc:creator>OpenAI</dc:creator>
  <cp:lastModifiedBy>OpenAI</cp:lastModifiedBy>
  <cp:revision>1</cp:revision>
  <dcterms:created xsi:type="dcterms:W3CDTF">2026-06-27T20:20:43Z</dcterms:created>
  <dcterms:modified xsi:type="dcterms:W3CDTF">2026-06-27T20:20:43Z</dcterms:modified>
</cp:coreProperties>
</file>